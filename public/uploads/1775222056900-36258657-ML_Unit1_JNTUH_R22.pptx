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64FFD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C084FC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3200400"/>
            <a:ext cx="2286000" cy="2286000"/>
          </a:xfrm>
          <a:prstGeom prst="ellipse">
            <a:avLst/>
          </a:prstGeom>
          <a:solidFill>
            <a:srgbClr val="FF6B6B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200400" y="411480"/>
            <a:ext cx="2743200" cy="347472"/>
          </a:xfrm>
          <a:prstGeom prst="rect">
            <a:avLst/>
          </a:prstGeom>
          <a:solidFill>
            <a:srgbClr val="64FFDA">
              <a:alpha val="25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4114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FF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JNTUH R22 SYLLABUS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64FF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- I  |  Foundations &amp; Core Concepts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1554480" cy="292608"/>
          </a:xfrm>
          <a:prstGeom prst="rect">
            <a:avLst/>
          </a:prstGeom>
          <a:solidFill>
            <a:srgbClr val="11224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4290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48840" y="3429000"/>
            <a:ext cx="1554480" cy="292608"/>
          </a:xfrm>
          <a:prstGeom prst="rect">
            <a:avLst/>
          </a:prstGeom>
          <a:solidFill>
            <a:srgbClr val="11224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34290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Perceptron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0" y="3429000"/>
            <a:ext cx="1554480" cy="292608"/>
          </a:xfrm>
          <a:prstGeom prst="rect">
            <a:avLst/>
          </a:prstGeom>
          <a:solidFill>
            <a:srgbClr val="11224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34290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Spaces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32120" y="3429000"/>
            <a:ext cx="1554480" cy="292608"/>
          </a:xfrm>
          <a:prstGeom prst="rect">
            <a:avLst/>
          </a:prstGeom>
          <a:solidFill>
            <a:srgbClr val="11224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34290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223760" y="3429000"/>
            <a:ext cx="1554480" cy="292608"/>
          </a:xfrm>
          <a:prstGeom prst="rect">
            <a:avLst/>
          </a:prstGeom>
          <a:solidFill>
            <a:srgbClr val="11224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34290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Basics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Study Guide with Interactive Examples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UNIT I — TOPICS AT A GLANCE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420624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85800"/>
            <a:ext cx="502920" cy="685800"/>
          </a:xfrm>
          <a:prstGeom prst="rect">
            <a:avLst/>
          </a:prstGeom>
          <a:solidFill>
            <a:srgbClr val="64FFDA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8580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8503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Machine Learning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508760"/>
            <a:ext cx="420624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08760"/>
            <a:ext cx="502920" cy="685800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50876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16733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420624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331720"/>
            <a:ext cx="502920" cy="685800"/>
          </a:xfrm>
          <a:prstGeom prst="rect">
            <a:avLst/>
          </a:prstGeom>
          <a:solidFill>
            <a:srgbClr val="C084FC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33172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249631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&amp; the Neuron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420624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154680"/>
            <a:ext cx="502920" cy="685800"/>
          </a:xfrm>
          <a:prstGeom prst="rect">
            <a:avLst/>
          </a:prstGeom>
          <a:solidFill>
            <a:srgbClr val="FFD93D">
              <a:alpha val="8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15468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331927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Learning System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977640"/>
            <a:ext cx="420624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977640"/>
            <a:ext cx="502920" cy="685800"/>
          </a:xfrm>
          <a:prstGeom prst="rect">
            <a:avLst/>
          </a:prstGeom>
          <a:solidFill>
            <a:srgbClr val="FF6B6B">
              <a:alpha val="8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97764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8680" y="41422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&amp; Issues in ML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685800"/>
            <a:ext cx="420624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685800"/>
            <a:ext cx="502920" cy="685800"/>
          </a:xfrm>
          <a:prstGeom prst="rect">
            <a:avLst/>
          </a:prstGeom>
          <a:solidFill>
            <a:srgbClr val="64FFDA">
              <a:alpha val="8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68580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49240" y="8503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Learning as Search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1508760"/>
            <a:ext cx="420624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1508760"/>
            <a:ext cx="502920" cy="685800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150876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49240" y="167335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Maximally Specific Hypothesis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2331720"/>
            <a:ext cx="420624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2331720"/>
            <a:ext cx="502920" cy="685800"/>
          </a:xfrm>
          <a:prstGeom prst="rect">
            <a:avLst/>
          </a:prstGeom>
          <a:solidFill>
            <a:srgbClr val="C084FC">
              <a:alpha val="8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233172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49240" y="249631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Spaces &amp; Candidate Elimination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54880" y="3154680"/>
            <a:ext cx="420624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3154680"/>
            <a:ext cx="502920" cy="685800"/>
          </a:xfrm>
          <a:prstGeom prst="rect">
            <a:avLst/>
          </a:prstGeom>
          <a:solidFill>
            <a:srgbClr val="FFD93D">
              <a:alpha val="8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315468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349240" y="331927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Perceptron &amp; Linear Discriminants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54880" y="3977640"/>
            <a:ext cx="420624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3977640"/>
            <a:ext cx="502920" cy="685800"/>
          </a:xfrm>
          <a:prstGeom prst="rect">
            <a:avLst/>
          </a:prstGeom>
          <a:solidFill>
            <a:srgbClr val="FF6B6B">
              <a:alpha val="8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397764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349240" y="41422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Separability &amp; Linear Regression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64FFDA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C084F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Types of Machine Learning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— Foundations of ML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FF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What is Machine Learning?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868680"/>
          </a:xfrm>
          <a:prstGeom prst="rect">
            <a:avLst/>
          </a:prstGeom>
          <a:solidFill>
            <a:srgbClr val="112240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58368"/>
            <a:ext cx="54864" cy="86868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713232"/>
            <a:ext cx="8092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 Mitchell's Definition (1997): "A computer program is said to learn from experience E with respect to some task T and performance measure P, if its performance at tasks in T improves with experience E."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2651760" cy="1645920"/>
          </a:xfrm>
          <a:prstGeom prst="rect">
            <a:avLst/>
          </a:prstGeom>
          <a:solidFill>
            <a:srgbClr val="112240"/>
          </a:solidFill>
          <a:ln w="12700">
            <a:solidFill>
              <a:srgbClr val="64FFD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7647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FF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Task (T)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21284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 the system to 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Classify emails as spam/not spam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691640"/>
            <a:ext cx="2651760" cy="1645920"/>
          </a:xfrm>
          <a:prstGeom prst="rect">
            <a:avLst/>
          </a:prstGeom>
          <a:solidFill>
            <a:srgbClr val="112240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7647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Performance (P)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21284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success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% of correctly classified emails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691640"/>
            <a:ext cx="2651760" cy="1645920"/>
          </a:xfrm>
          <a:prstGeom prst="rect">
            <a:avLst/>
          </a:prstGeom>
          <a:solidFill>
            <a:srgbClr val="112240"/>
          </a:solidFill>
          <a:ln w="12700">
            <a:solidFill>
              <a:srgbClr val="FFD9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7647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💼 Experience (E)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0" y="221284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the system learns from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10,000 labeled emails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474720"/>
            <a:ext cx="8412480" cy="1417320"/>
          </a:xfrm>
          <a:prstGeom prst="rect">
            <a:avLst/>
          </a:prstGeom>
          <a:solidFill>
            <a:srgbClr val="0F1F0F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478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🎮  FUN EXAMPLE — Netflix Recommendation System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9136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T: </a:t>
            </a:r>
            <a:pPr indent="0" marL="0">
              <a:buNone/>
            </a:pPr>
            <a:r>
              <a:rPr lang="en-US" sz="12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movies you'll love  </a:t>
            </a:r>
            <a:pPr indent="0" marL="0">
              <a:buNone/>
            </a:pPr>
            <a:r>
              <a:rPr lang="en-US" sz="12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</a:t>
            </a:r>
            <a:pPr indent="0" marL="0">
              <a:buNone/>
            </a:pPr>
            <a:r>
              <a:rPr lang="en-US" sz="12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watched recommendations  </a:t>
            </a:r>
            <a:pPr indent="0" marL="0">
              <a:buNone/>
            </a:pPr>
            <a:r>
              <a:rPr lang="en-US" sz="12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E: </a:t>
            </a:r>
            <a:pPr indent="0" marL="0">
              <a:buNone/>
            </a:pPr>
            <a:r>
              <a:rPr lang="en-US" sz="12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watch history, ratings &amp; browsing behavior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FF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🗂️  Three Main Types of Machine Learning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8412480" cy="1298448"/>
          </a:xfrm>
          <a:prstGeom prst="rect">
            <a:avLst/>
          </a:prstGeom>
          <a:solidFill>
            <a:srgbClr val="112240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58368"/>
            <a:ext cx="54864" cy="1298448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7498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FF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🎓 Supervised Learning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labeled training data. Has both input (X) and output (Y) pairs.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Spam detection, image classification, price prediction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94960" y="886968"/>
            <a:ext cx="3108960" cy="777240"/>
          </a:xfrm>
          <a:prstGeom prst="rect">
            <a:avLst/>
          </a:prstGeom>
          <a:solidFill>
            <a:srgbClr val="64FFDA">
              <a:alpha val="12000"/>
            </a:srgbClr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93268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learning with a teacher who checks your answers 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075688"/>
            <a:ext cx="8412480" cy="1298448"/>
          </a:xfrm>
          <a:prstGeom prst="rect">
            <a:avLst/>
          </a:prstGeom>
          <a:solidFill>
            <a:srgbClr val="11224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075688"/>
            <a:ext cx="54864" cy="1298448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1671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Unsupervised Learning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2514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hidden patterns in unlabeled data. No predefined output labels.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880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Customer segmentation, topic modeling, anomaly detection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94960" y="2304288"/>
            <a:ext cx="3108960" cy="777240"/>
          </a:xfrm>
          <a:prstGeom prst="rect">
            <a:avLst/>
          </a:prstGeom>
          <a:solidFill>
            <a:srgbClr val="C084FC">
              <a:alpha val="12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235000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sorting laundry without labels — you find natural groups 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493008"/>
            <a:ext cx="8412480" cy="1298448"/>
          </a:xfrm>
          <a:prstGeom prst="rect">
            <a:avLst/>
          </a:prstGeom>
          <a:solidFill>
            <a:srgbClr val="11224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493008"/>
            <a:ext cx="54864" cy="129844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5844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🎮 Reinforcement Learning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3931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learns by interacting with environment. Rewarded for good actions.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297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Chess AI, robotics, self-driving cars, game playing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94960" y="3721608"/>
            <a:ext cx="3108960" cy="777240"/>
          </a:xfrm>
          <a:prstGeom prst="rect">
            <a:avLst/>
          </a:prstGeom>
          <a:solidFill>
            <a:srgbClr val="FF6B6B">
              <a:alpha val="12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376732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training a dog with treats — reward good behavior 🐕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FF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🎓  Supervised Learning — Deep Dive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621792"/>
            <a:ext cx="1234440" cy="777240"/>
          </a:xfrm>
          <a:prstGeom prst="rect">
            <a:avLst/>
          </a:prstGeom>
          <a:solidFill>
            <a:srgbClr val="60A5FA">
              <a:alpha val="80000"/>
            </a:srgbClr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21792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(X, Y pairs)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54480" y="1010412"/>
            <a:ext cx="210312" cy="0"/>
          </a:xfrm>
          <a:prstGeom prst="line">
            <a:avLst/>
          </a:prstGeom>
          <a:noFill/>
          <a:ln w="25400">
            <a:solidFill>
              <a:srgbClr val="8892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64792" y="621792"/>
            <a:ext cx="1234440" cy="777240"/>
          </a:xfrm>
          <a:prstGeom prst="rect">
            <a:avLst/>
          </a:prstGeom>
          <a:solidFill>
            <a:srgbClr val="FFD93D">
              <a:alpha val="80000"/>
            </a:srgbClr>
          </a:solidFill>
          <a:ln w="19050">
            <a:solidFill>
              <a:srgbClr val="FFD9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64792" y="621792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99232" y="1010412"/>
            <a:ext cx="210312" cy="0"/>
          </a:xfrm>
          <a:prstGeom prst="line">
            <a:avLst/>
          </a:prstGeom>
          <a:noFill/>
          <a:ln w="25400">
            <a:solidFill>
              <a:srgbClr val="8892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9544" y="621792"/>
            <a:ext cx="1234440" cy="777240"/>
          </a:xfrm>
          <a:prstGeom prst="rect">
            <a:avLst/>
          </a:prstGeom>
          <a:solidFill>
            <a:srgbClr val="64FFDA">
              <a:alpha val="80000"/>
            </a:srgbClr>
          </a:solidFill>
          <a:ln w="19050">
            <a:solidFill>
              <a:srgbClr val="64FF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9544" y="621792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Model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43984" y="1010412"/>
            <a:ext cx="210312" cy="0"/>
          </a:xfrm>
          <a:prstGeom prst="line">
            <a:avLst/>
          </a:prstGeom>
          <a:noFill/>
          <a:ln w="25400">
            <a:solidFill>
              <a:srgbClr val="8892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54296" y="621792"/>
            <a:ext cx="1234440" cy="777240"/>
          </a:xfrm>
          <a:prstGeom prst="rect">
            <a:avLst/>
          </a:prstGeom>
          <a:solidFill>
            <a:srgbClr val="C084FC">
              <a:alpha val="80000"/>
            </a:srgbClr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4296" y="621792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88736" y="1010412"/>
            <a:ext cx="210312" cy="0"/>
          </a:xfrm>
          <a:prstGeom prst="line">
            <a:avLst/>
          </a:prstGeom>
          <a:noFill/>
          <a:ln w="25400">
            <a:solidFill>
              <a:srgbClr val="8892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9048" y="621792"/>
            <a:ext cx="1234440" cy="777240"/>
          </a:xfrm>
          <a:prstGeom prst="rect">
            <a:avLst/>
          </a:prstGeom>
          <a:solidFill>
            <a:srgbClr val="60A5FA">
              <a:alpha val="80000"/>
            </a:srgbClr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9048" y="621792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Input X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33488" y="1010412"/>
            <a:ext cx="210312" cy="0"/>
          </a:xfrm>
          <a:prstGeom prst="line">
            <a:avLst/>
          </a:prstGeom>
          <a:noFill/>
          <a:ln w="25400">
            <a:solidFill>
              <a:srgbClr val="8892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3800" y="621792"/>
            <a:ext cx="1234440" cy="777240"/>
          </a:xfrm>
          <a:prstGeom prst="rect">
            <a:avLst/>
          </a:prstGeom>
          <a:solidFill>
            <a:srgbClr val="FF6B6B">
              <a:alpha val="80000"/>
            </a:srgbClr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621792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 Ŷ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1554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Main Tasks in Supervised Learning: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1938528"/>
            <a:ext cx="411480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011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FF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Classification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2395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a discrete class label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26974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 this email spam? → </a:t>
            </a:r>
            <a:pPr indent="0" marL="0">
              <a:buNone/>
            </a:pPr>
            <a:r>
              <a:rPr lang="en-US" sz="1100" b="1" dirty="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
</a:t>
            </a:r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digit is this? → </a:t>
            </a:r>
            <a:pPr indent="0" marL="0">
              <a:buNone/>
            </a:pPr>
            <a:r>
              <a:rPr lang="en-US" sz="1100" b="1" dirty="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0-9
</a:t>
            </a:r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 tumor malignant? → </a:t>
            </a:r>
            <a:pPr indent="0" marL="0">
              <a:buNone/>
            </a:pPr>
            <a:r>
              <a:rPr lang="en-US" sz="1100" b="1" dirty="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/ MALIGNANT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1938528"/>
            <a:ext cx="411480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011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Regression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00600" y="2395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a continuous numeric value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26974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House size → </a:t>
            </a:r>
            <a:pPr indent="0" marL="0">
              <a:buNone/>
            </a:pPr>
            <a:r>
              <a:rPr lang="en-US" sz="11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₹45,00,000
</a:t>
            </a:r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Hours studied → </a:t>
            </a:r>
            <a:pPr indent="0" marL="0">
              <a:buNone/>
            </a:pPr>
            <a:r>
              <a:rPr lang="en-US" sz="11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87.5
</a:t>
            </a:r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Temperature tomorrow → </a:t>
            </a:r>
            <a:pPr indent="0" marL="0">
              <a:buNone/>
            </a:pPr>
            <a:r>
              <a:rPr lang="en-US" sz="11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36.2°C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931920"/>
            <a:ext cx="8412480" cy="896112"/>
          </a:xfrm>
          <a:prstGeom prst="rect">
            <a:avLst/>
          </a:prstGeom>
          <a:solidFill>
            <a:srgbClr val="1F1500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005072"/>
            <a:ext cx="8092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INSIGHT: The word 'supervised' comes from having a 'supervisor' (teacher) who provides the correct answers during training. The algorithm adjusts itself until it can predict the right answer most of the time.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64FFDA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C084F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The Brain &amp; The Neuron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— Biological Inspiration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FF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 The Biological Neuron — Nature's Computing Unit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640080"/>
            <a:ext cx="4663440" cy="4206240"/>
          </a:xfrm>
          <a:prstGeom prst="rect">
            <a:avLst/>
          </a:prstGeom>
          <a:solidFill>
            <a:srgbClr val="11224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498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🌿 Dendrites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06984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signals from other neurons. Like input wires that collect data from the environment.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7556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FF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🔵 Cell Body (Soma)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07568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all incoming signals. Sums up the weighted inputs and decides if the neuron fires.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7614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Axon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08152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Transmits the output signal. The long wire that carries the processed signal to the next neuron.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7673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🔗 Synapse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08736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point between neurons. Controls signal strength — equivalent to 'weights' in artificial neural networks.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12080" y="640080"/>
            <a:ext cx="3566160" cy="1920240"/>
          </a:xfrm>
          <a:prstGeom prst="rect">
            <a:avLst/>
          </a:prstGeom>
          <a:solidFill>
            <a:srgbClr val="10001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7132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🔢 Brain Facts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49240" y="1115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FF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~86 billion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223760" y="1115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 in human brain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49240" y="1444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FF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 trillion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23760" y="1444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synaptic connections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49240" y="1773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FF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1-100 m/s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23760" y="17739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speed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4924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FF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Watts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23760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consumption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12080" y="2743200"/>
            <a:ext cx="3566160" cy="2103120"/>
          </a:xfrm>
          <a:prstGeom prst="rect">
            <a:avLst/>
          </a:prstGeom>
          <a:solidFill>
            <a:srgbClr val="001010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28163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FF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Analogy to ANN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49240" y="321868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Dendrites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3218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20840" y="32186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(x₁, x₂, …)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49240" y="362102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Synapse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36210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20840" y="362102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(w₁, w₂, …)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49240" y="4023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Body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5508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20840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Summation + Activation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49240" y="442569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55080" y="44256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720840" y="442569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signal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FF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Designing a Learning System — Mitchell's Checklist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Learning to play checkers (Mitchell, 1997)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206240" cy="1115568"/>
          </a:xfrm>
          <a:prstGeom prst="rect">
            <a:avLst/>
          </a:prstGeom>
          <a:solidFill>
            <a:srgbClr val="112240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78992"/>
            <a:ext cx="457200" cy="1115568"/>
          </a:xfrm>
          <a:prstGeom prst="rect">
            <a:avLst/>
          </a:prstGeom>
          <a:solidFill>
            <a:srgbClr val="64FFDA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16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1️⃣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1521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FF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Training Experience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517904"/>
            <a:ext cx="35661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will the system learn from?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Self-play games vs. expert game records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vs. offline experience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4206240" cy="1115568"/>
          </a:xfrm>
          <a:prstGeom prst="rect">
            <a:avLst/>
          </a:prstGeom>
          <a:solidFill>
            <a:srgbClr val="11224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240280"/>
            <a:ext cx="457200" cy="1115568"/>
          </a:xfrm>
          <a:prstGeom prst="rect">
            <a:avLst/>
          </a:prstGeom>
          <a:solidFill>
            <a:srgbClr val="60A5FA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377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2️⃣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2313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Target Function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679192"/>
            <a:ext cx="35661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function should the system learn?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V(board_state) → value of a board position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mapping from states to utilities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401568"/>
            <a:ext cx="4206240" cy="1115568"/>
          </a:xfrm>
          <a:prstGeom prst="rect">
            <a:avLst/>
          </a:prstGeom>
          <a:solidFill>
            <a:srgbClr val="11224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401568"/>
            <a:ext cx="457200" cy="1115568"/>
          </a:xfrm>
          <a:prstGeom prst="rect">
            <a:avLst/>
          </a:prstGeom>
          <a:solidFill>
            <a:srgbClr val="C084FC">
              <a:alpha val="8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5387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3️⃣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3474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Representation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840480"/>
            <a:ext cx="35661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represent the learned function?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features of board positions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piece count, threats, mobility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1078992"/>
            <a:ext cx="4206240" cy="1664208"/>
          </a:xfrm>
          <a:prstGeom prst="rect">
            <a:avLst/>
          </a:prstGeom>
          <a:solidFill>
            <a:srgbClr val="112240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1078992"/>
            <a:ext cx="457200" cy="1664208"/>
          </a:xfrm>
          <a:prstGeom prst="rect">
            <a:avLst/>
          </a:prstGeom>
          <a:solidFill>
            <a:srgbClr val="FFD93D">
              <a:alpha val="8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216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4️⃣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49240" y="11521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Learning Algorithm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49240" y="1517904"/>
            <a:ext cx="35661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update parameters during training?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descent, least mean squares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error on training data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2798064"/>
            <a:ext cx="4206240" cy="1664208"/>
          </a:xfrm>
          <a:prstGeom prst="rect">
            <a:avLst/>
          </a:prstGeom>
          <a:solidFill>
            <a:srgbClr val="11224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2798064"/>
            <a:ext cx="457200" cy="1664208"/>
          </a:xfrm>
          <a:prstGeom prst="rect">
            <a:avLst/>
          </a:prstGeom>
          <a:solidFill>
            <a:srgbClr val="FF6B6B">
              <a:alpha val="8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293522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5️⃣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49240" y="287121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Evaluate Performance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49240" y="3236976"/>
            <a:ext cx="35661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does it generalize to new games?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unseen boards, adjust hyperparams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FF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🔭  Perspectives &amp; Issues in Machine Learning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2651760" cy="2011680"/>
          </a:xfrm>
          <a:prstGeom prst="rect">
            <a:avLst/>
          </a:prstGeom>
          <a:solidFill>
            <a:srgbClr val="112240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658368"/>
            <a:ext cx="2651760" cy="475488"/>
          </a:xfrm>
          <a:prstGeom prst="rect">
            <a:avLst/>
          </a:prstGeom>
          <a:solidFill>
            <a:srgbClr val="FF6B6B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315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 Overfitting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25296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 training data too well, fails on new data. Like memorizing a textbook but can't solve new problems.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658368"/>
            <a:ext cx="2651760" cy="2011680"/>
          </a:xfrm>
          <a:prstGeom prst="rect">
            <a:avLst/>
          </a:prstGeom>
          <a:solidFill>
            <a:srgbClr val="112240"/>
          </a:solidFill>
          <a:ln w="12700">
            <a:solidFill>
              <a:srgbClr val="FFD9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658368"/>
            <a:ext cx="2651760" cy="475488"/>
          </a:xfrm>
          <a:prstGeom prst="rect">
            <a:avLst/>
          </a:prstGeom>
          <a:solidFill>
            <a:srgbClr val="FFD93D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7315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⚖️  Bias-Variance Trade-off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225296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underfitting (high bias) and overfitting (high variance). The fundamental challenge in ML.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658368"/>
            <a:ext cx="2651760" cy="2011680"/>
          </a:xfrm>
          <a:prstGeom prst="rect">
            <a:avLst/>
          </a:prstGeom>
          <a:solidFill>
            <a:srgbClr val="112240"/>
          </a:solidFill>
          <a:ln w="12700">
            <a:solidFill>
              <a:srgbClr val="C084F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658368"/>
            <a:ext cx="2651760" cy="475488"/>
          </a:xfrm>
          <a:prstGeom prst="rect">
            <a:avLst/>
          </a:prstGeom>
          <a:solidFill>
            <a:srgbClr val="C084FC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7315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📐  Curse of Dimensionality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1225296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features increase, data becomes sparse. You need exponentially more data with more features.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852928"/>
            <a:ext cx="2651760" cy="2011680"/>
          </a:xfrm>
          <a:prstGeom prst="rect">
            <a:avLst/>
          </a:prstGeom>
          <a:solidFill>
            <a:srgbClr val="112240"/>
          </a:solidFill>
          <a:ln w="12700">
            <a:solidFill>
              <a:srgbClr val="64FFD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52928"/>
            <a:ext cx="2651760" cy="475488"/>
          </a:xfrm>
          <a:prstGeom prst="rect">
            <a:avLst/>
          </a:prstGeom>
          <a:solidFill>
            <a:srgbClr val="64FFDA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9260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 Feature Engineering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419856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&amp; transforming relevant input features. Often 80% of ML work is about the data, not the algorithm!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2852928"/>
            <a:ext cx="2651760" cy="2011680"/>
          </a:xfrm>
          <a:prstGeom prst="rect">
            <a:avLst/>
          </a:prstGeom>
          <a:solidFill>
            <a:srgbClr val="112240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852928"/>
            <a:ext cx="2651760" cy="475488"/>
          </a:xfrm>
          <a:prstGeom prst="rect">
            <a:avLst/>
          </a:prstGeom>
          <a:solidFill>
            <a:srgbClr val="60A5FA">
              <a:alpha val="8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29260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🗂️  Data Quality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3419856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in, garbage out! Noisy, incomplete, or biased data causes poor models regardless of algorithm.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35040" y="2852928"/>
            <a:ext cx="2651760" cy="2011680"/>
          </a:xfrm>
          <a:prstGeom prst="rect">
            <a:avLst/>
          </a:prstGeom>
          <a:solidFill>
            <a:srgbClr val="112240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2852928"/>
            <a:ext cx="2651760" cy="475488"/>
          </a:xfrm>
          <a:prstGeom prst="rect">
            <a:avLst/>
          </a:prstGeom>
          <a:solidFill>
            <a:srgbClr val="FF6B6B">
              <a:alpha val="8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29260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Inductive Bias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0" y="3419856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built into learning algorithms. e.g., decision trees assume decisions can be tree-structured.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64FFDA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C084F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Concept Learning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— Search Through Hypothesis Space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FF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Concept Learning Task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640080"/>
            <a:ext cx="841248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76656"/>
            <a:ext cx="8092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Inferring a Boolean-valued function from training examples. We learn what makes an instance a positive (Yes) or negative (No) example of a concept.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4447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🏄 Classic Example: EnjoySport Concept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47088"/>
          <a:ext cx="8412480" cy="13716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188720"/>
                <a:gridCol w="1188720"/>
                <a:gridCol w="1188720"/>
                <a:gridCol w="1234440"/>
                <a:gridCol w="12344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1117"/>
                          </a:solidFill>
                        </a:rPr>
                        <a:t>Sky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1117"/>
                          </a:solidFill>
                        </a:rPr>
                        <a:t>AirTemp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1117"/>
                          </a:solidFill>
                        </a:rPr>
                        <a:t>Humidity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1117"/>
                          </a:solidFill>
                        </a:rPr>
                        <a:t>Wind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1117"/>
                          </a:solidFill>
                        </a:rPr>
                        <a:t>Water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1117"/>
                          </a:solidFill>
                        </a:rPr>
                        <a:t>Forecast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1117"/>
                          </a:solidFill>
                        </a:rPr>
                        <a:t>EnjoySport?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FFD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6F6"/>
                          </a:solidFill>
                        </a:rPr>
                        <a:t>Sunny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6F6"/>
                          </a:solidFill>
                        </a:rPr>
                        <a:t>Warm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6F6"/>
                          </a:solidFill>
                        </a:rPr>
                        <a:t>Normal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6F6"/>
                          </a:solidFill>
                        </a:rPr>
                        <a:t>Strong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6F6"/>
                          </a:solidFill>
                        </a:rPr>
                        <a:t>Warm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6F6"/>
                          </a:solidFill>
                        </a:rPr>
                        <a:t>Same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E67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6F6"/>
                          </a:solidFill>
                        </a:rPr>
                        <a:t>Sunny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6F6"/>
                          </a:solidFill>
                        </a:rPr>
                        <a:t>Warm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6F6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6F6"/>
                          </a:solidFill>
                        </a:rPr>
                        <a:t>Strong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6F6"/>
                          </a:solidFill>
                        </a:rPr>
                        <a:t>Warm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6F6"/>
                          </a:solidFill>
                        </a:rPr>
                        <a:t>Same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E67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6F6"/>
                          </a:solidFill>
                        </a:rPr>
                        <a:t>Rainy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6F6"/>
                          </a:solidFill>
                        </a:rPr>
                        <a:t>Cold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6F6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6F6"/>
                          </a:solidFill>
                        </a:rPr>
                        <a:t>Strong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6F6"/>
                          </a:solidFill>
                        </a:rPr>
                        <a:t>Warm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6F6"/>
                          </a:solidFill>
                        </a:rPr>
                        <a:t>Change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6B6B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00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6F6"/>
                          </a:solidFill>
                        </a:rPr>
                        <a:t>Sunny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6F6"/>
                          </a:solidFill>
                        </a:rPr>
                        <a:t>Warm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6F6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6F6"/>
                          </a:solidFill>
                        </a:rPr>
                        <a:t>Strong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6F6"/>
                          </a:solidFill>
                        </a:rPr>
                        <a:t>Cool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6F6"/>
                          </a:solidFill>
                        </a:rPr>
                        <a:t>Change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E676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00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3337560"/>
            <a:ext cx="8412480" cy="1508760"/>
          </a:xfrm>
          <a:prstGeom prst="rect">
            <a:avLst/>
          </a:prstGeom>
          <a:solidFill>
            <a:srgbClr val="00102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34015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Hypothesis Representation (Attribute Constraints):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3749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?  </a:t>
            </a:r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any value accepted     </a:t>
            </a:r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∅  </a:t>
            </a:r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no value accepted (empty)     </a:t>
            </a:r>
            <a:pPr indent="0" marL="0">
              <a:buNone/>
            </a:pPr>
            <a:r>
              <a:rPr lang="en-US" sz="1100" b="1" dirty="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value  </a:t>
            </a:r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specific value required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41148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FF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e.g., h = &lt;Sunny, ?, ?, Strong, ?, Same&gt;  → "Sunny day with Strong wind and Same forecast"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FF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🔎  Concept Learning as Search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hypothesis space H is ordered from most general (?) to most specific (∅).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051560"/>
            <a:ext cx="7315200" cy="749808"/>
          </a:xfrm>
          <a:prstGeom prst="rect">
            <a:avLst/>
          </a:prstGeom>
          <a:solidFill>
            <a:srgbClr val="112240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051560"/>
            <a:ext cx="1463040" cy="749808"/>
          </a:xfrm>
          <a:prstGeom prst="rect">
            <a:avLst/>
          </a:prstGeom>
          <a:solidFill>
            <a:srgbClr val="C084FC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05156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GENERAL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514600" y="11612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⟨?, ?, ?, ?, ?, ?⟩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06440" y="12161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ALL instances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188720"/>
            <a:ext cx="0" cy="777240"/>
          </a:xfrm>
          <a:prstGeom prst="line">
            <a:avLst/>
          </a:prstGeom>
          <a:noFill/>
          <a:ln w="25400">
            <a:solidFill>
              <a:srgbClr val="8892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057400"/>
            <a:ext cx="7315200" cy="749808"/>
          </a:xfrm>
          <a:prstGeom prst="rect">
            <a:avLst/>
          </a:prstGeom>
          <a:solidFill>
            <a:srgbClr val="112240"/>
          </a:solidFill>
          <a:ln w="19050">
            <a:solidFill>
              <a:srgbClr val="64FF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057400"/>
            <a:ext cx="1463040" cy="749808"/>
          </a:xfrm>
          <a:prstGeom prst="rect">
            <a:avLst/>
          </a:prstGeom>
          <a:solidFill>
            <a:srgbClr val="64FFDA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05740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PARTIAL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14600" y="21671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⟨Sunny, ?, ?, ?, ?, ?⟩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06440" y="22219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if Sky = Sunny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2194560"/>
            <a:ext cx="0" cy="777240"/>
          </a:xfrm>
          <a:prstGeom prst="line">
            <a:avLst/>
          </a:prstGeom>
          <a:noFill/>
          <a:ln w="25400">
            <a:solidFill>
              <a:srgbClr val="8892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063240"/>
            <a:ext cx="7315200" cy="749808"/>
          </a:xfrm>
          <a:prstGeom prst="rect">
            <a:avLst/>
          </a:prstGeom>
          <a:solidFill>
            <a:srgbClr val="112240"/>
          </a:solidFill>
          <a:ln w="19050">
            <a:solidFill>
              <a:srgbClr val="FFD9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063240"/>
            <a:ext cx="1463040" cy="749808"/>
          </a:xfrm>
          <a:prstGeom prst="rect">
            <a:avLst/>
          </a:prstGeom>
          <a:solidFill>
            <a:srgbClr val="FFD93D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06324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SPECIFIC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14600" y="31729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⟨Sunny, Warm, ?, ?, ?, ?⟩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06440" y="32278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 Sunny AND AirTemp Warm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0" y="3200400"/>
            <a:ext cx="0" cy="777240"/>
          </a:xfrm>
          <a:prstGeom prst="line">
            <a:avLst/>
          </a:prstGeom>
          <a:noFill/>
          <a:ln w="25400">
            <a:solidFill>
              <a:srgbClr val="8892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4069080"/>
            <a:ext cx="7315200" cy="749808"/>
          </a:xfrm>
          <a:prstGeom prst="rect">
            <a:avLst/>
          </a:prstGeom>
          <a:solidFill>
            <a:srgbClr val="112240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4069080"/>
            <a:ext cx="1463040" cy="749808"/>
          </a:xfrm>
          <a:prstGeom prst="rect">
            <a:avLst/>
          </a:prstGeom>
          <a:solidFill>
            <a:srgbClr val="FF6B6B">
              <a:alpha val="8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069080"/>
            <a:ext cx="1463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SPECIFIC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514600" y="41788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⟨∅, ∅, ∅, ∅, ∅, ∅⟩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06440" y="42336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ALL instances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FF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Finding a Maximally Specific Hypothesis — Find-S Algorithm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640080"/>
            <a:ext cx="8412480" cy="566928"/>
          </a:xfrm>
          <a:prstGeom prst="rect">
            <a:avLst/>
          </a:prstGeom>
          <a:solidFill>
            <a:srgbClr val="112240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76656"/>
            <a:ext cx="8092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Find-S: Start with the most specific hypothesis. For each POSITIVE example, generalize just enough to cover it. Ignore negative examples!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Find-S Algorithm Steps: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4114800" cy="2423160"/>
          </a:xfrm>
          <a:prstGeom prst="rect">
            <a:avLst/>
          </a:prstGeom>
          <a:solidFill>
            <a:srgbClr val="0D1117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1051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← ∅ (most specific hypothesis)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15798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POSITIVE training example d: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50545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For each attribute aᵢ of h: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85292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IF h[aᵢ] ≠ d[aᵢ]: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20040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h[aᵢ] ← ?  (generalize)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4787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hypothesis 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63440" y="1325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FF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Worked Example — EnjoySport: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691640"/>
            <a:ext cx="411480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7647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97880" y="1764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⟨∅, ∅, ∅, ∅, ∅, ∅⟩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258568"/>
            <a:ext cx="411480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331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FF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Ex1 (+):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9788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⟨Sunny, Warm, Normal, Strong, Warm, Same⟩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825496"/>
            <a:ext cx="411480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8986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Ex2 (+):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97880" y="2898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⟨Sunny, Warm, ?, Strong, Warm, Same⟩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392424"/>
            <a:ext cx="411480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8892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4655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Ex3 (-) skip: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97880" y="34655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(negative — ignored)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959352"/>
            <a:ext cx="411480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403250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Ex4 (+):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97880" y="40325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D6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⟨Sunny, Warm, ?, Strong, ?, ?⟩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251960"/>
            <a:ext cx="8412480" cy="566928"/>
          </a:xfrm>
          <a:prstGeom prst="rect">
            <a:avLst/>
          </a:prstGeom>
          <a:solidFill>
            <a:srgbClr val="20000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288536"/>
            <a:ext cx="8092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Limitation: Find-S can't detect inconsistencies in training data and only works well with noise-free datasets.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FF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Version Spaces &amp; Candidate Elimination Algorithm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solidFill>
            <a:srgbClr val="11224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76656"/>
            <a:ext cx="8092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Space (VS): The subset of ALL hypotheses in H that are consistent with the training examples. Contains EVERY hypothesis that correctly classifies all seen examples.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4114800" cy="2286000"/>
          </a:xfrm>
          <a:prstGeom prst="rect">
            <a:avLst/>
          </a:prstGeom>
          <a:solidFill>
            <a:srgbClr val="112240"/>
          </a:solidFill>
          <a:ln w="25400">
            <a:solidFill>
              <a:srgbClr val="00E6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  — Specific Boundary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847088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Most specific consistent hypotheses
</a:t>
            </a:r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 = {h : h is consistent AND
</a:t>
            </a:r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MORE specific h' exists in VS}
</a:t>
            </a:r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Initialized to: ⟨∅, ∅, ∅, ∅, ∅, ∅⟩
</a:t>
            </a:r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Updated by: positive examples only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89888"/>
            <a:ext cx="4114800" cy="2286000"/>
          </a:xfrm>
          <a:prstGeom prst="rect">
            <a:avLst/>
          </a:prstGeom>
          <a:solidFill>
            <a:srgbClr val="112240"/>
          </a:solidFill>
          <a:ln w="25400">
            <a:solidFill>
              <a:srgbClr val="C084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463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 — General Boundary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847088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Most general consistent hypotheses
</a:t>
            </a:r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 = {h : h is consistent AND
</a:t>
            </a:r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MORE general h' exists in VS}
</a:t>
            </a:r>
            <a:pPr indent="0" marL="0">
              <a:buNone/>
            </a:pPr>
            <a:r>
              <a:rPr lang="en-US" sz="11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Initialized to: ⟨?, ?, ?, ?, ?, ?⟩
</a:t>
            </a:r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Updated by: negative examples only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767328"/>
            <a:ext cx="8412480" cy="1078992"/>
          </a:xfrm>
          <a:prstGeom prst="rect">
            <a:avLst/>
          </a:prstGeom>
          <a:solidFill>
            <a:srgbClr val="00102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221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Candidate Elimination Algorithm (CEA):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1605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Positive example: </a:t>
            </a:r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S, remove inconsistent G members  |  </a:t>
            </a:r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Negative example: </a:t>
            </a:r>
            <a:pPr indent="0" marL="0">
              <a:buNone/>
            </a:pPr>
            <a:r>
              <a:rPr lang="en-US" sz="11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 G, remove inconsistent S members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64FFDA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C084F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📏 Linear Discriminants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— Perceptron, Linear Separability &amp; Regression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FF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The Perceptron — Rosenblatt's Artificial Neuron (1957)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640080"/>
            <a:ext cx="8412480" cy="566928"/>
          </a:xfrm>
          <a:prstGeom prst="rect">
            <a:avLst/>
          </a:prstGeom>
          <a:solidFill>
            <a:srgbClr val="112240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76656"/>
            <a:ext cx="8092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Perceptron is the simplest artificial neural network — a single neuron that learns to classify data into 2 classes by finding a linear decision boundary.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4754880" cy="3200400"/>
          </a:xfrm>
          <a:prstGeom prst="rect">
            <a:avLst/>
          </a:prstGeom>
          <a:solidFill>
            <a:srgbClr val="112240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Perceptron Structure: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755648"/>
            <a:ext cx="365760" cy="365760"/>
          </a:xfrm>
          <a:prstGeom prst="ellipse">
            <a:avLst/>
          </a:prstGeom>
          <a:solidFill>
            <a:srgbClr val="60A5FA">
              <a:alpha val="85000"/>
            </a:srgbClr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x₁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" y="1938528"/>
            <a:ext cx="822960" cy="0"/>
          </a:xfrm>
          <a:prstGeom prst="line">
            <a:avLst/>
          </a:prstGeom>
          <a:noFill/>
          <a:ln w="19050">
            <a:solidFill>
              <a:srgbClr val="FFD9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7099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91640" y="1938528"/>
            <a:ext cx="457200" cy="-292608"/>
          </a:xfrm>
          <a:prstGeom prst="line">
            <a:avLst/>
          </a:prstGeom>
          <a:noFill/>
          <a:ln w="12700">
            <a:solidFill>
              <a:srgbClr val="8892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322576"/>
            <a:ext cx="365760" cy="365760"/>
          </a:xfrm>
          <a:prstGeom prst="ellipse">
            <a:avLst/>
          </a:prstGeom>
          <a:solidFill>
            <a:srgbClr val="60A5FA">
              <a:alpha val="85000"/>
            </a:srgbClr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22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x₂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2505456"/>
            <a:ext cx="822960" cy="0"/>
          </a:xfrm>
          <a:prstGeom prst="line">
            <a:avLst/>
          </a:prstGeom>
          <a:noFill/>
          <a:ln w="19050">
            <a:solidFill>
              <a:srgbClr val="FFD9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27685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91640" y="2505456"/>
            <a:ext cx="457200" cy="-219456"/>
          </a:xfrm>
          <a:prstGeom prst="line">
            <a:avLst/>
          </a:prstGeom>
          <a:noFill/>
          <a:ln w="12700">
            <a:solidFill>
              <a:srgbClr val="8892B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889504"/>
            <a:ext cx="365760" cy="365760"/>
          </a:xfrm>
          <a:prstGeom prst="ellipse">
            <a:avLst/>
          </a:prstGeom>
          <a:solidFill>
            <a:srgbClr val="60A5FA">
              <a:alpha val="85000"/>
            </a:srgbClr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x₃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68680" y="3072384"/>
            <a:ext cx="822960" cy="0"/>
          </a:xfrm>
          <a:prstGeom prst="line">
            <a:avLst/>
          </a:prstGeom>
          <a:noFill/>
          <a:ln w="19050">
            <a:solidFill>
              <a:srgbClr val="FFD9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28437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691640" y="3072384"/>
            <a:ext cx="457200" cy="-146304"/>
          </a:xfrm>
          <a:prstGeom prst="line">
            <a:avLst/>
          </a:prstGeom>
          <a:noFill/>
          <a:ln w="12700">
            <a:solidFill>
              <a:srgbClr val="8892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456432"/>
            <a:ext cx="365760" cy="365760"/>
          </a:xfrm>
          <a:prstGeom prst="ellipse">
            <a:avLst/>
          </a:prstGeom>
          <a:solidFill>
            <a:srgbClr val="60A5FA">
              <a:alpha val="85000"/>
            </a:srgbClr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456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x₄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68680" y="3639312"/>
            <a:ext cx="822960" cy="0"/>
          </a:xfrm>
          <a:prstGeom prst="line">
            <a:avLst/>
          </a:prstGeom>
          <a:noFill/>
          <a:ln w="19050">
            <a:solidFill>
              <a:srgbClr val="FFD9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4107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91640" y="3639312"/>
            <a:ext cx="457200" cy="-73152"/>
          </a:xfrm>
          <a:prstGeom prst="line">
            <a:avLst/>
          </a:prstGeom>
          <a:noFill/>
          <a:ln w="12700">
            <a:solidFill>
              <a:srgbClr val="8892B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57400" y="2377440"/>
            <a:ext cx="640080" cy="640080"/>
          </a:xfrm>
          <a:prstGeom prst="ellipse">
            <a:avLst/>
          </a:prstGeom>
          <a:solidFill>
            <a:srgbClr val="C084FC">
              <a:alpha val="85000"/>
            </a:srgbClr>
          </a:solidFill>
          <a:ln w="25400">
            <a:solidFill>
              <a:srgbClr val="C084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5740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Σ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2697480" y="2697480"/>
            <a:ext cx="457200" cy="0"/>
          </a:xfrm>
          <a:prstGeom prst="line">
            <a:avLst/>
          </a:prstGeom>
          <a:noFill/>
          <a:ln w="25400">
            <a:solidFill>
              <a:srgbClr val="FFD9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54680" y="2377440"/>
            <a:ext cx="640080" cy="640080"/>
          </a:xfrm>
          <a:prstGeom prst="ellipse">
            <a:avLst/>
          </a:prstGeom>
          <a:solidFill>
            <a:srgbClr val="64FFDA">
              <a:alpha val="85000"/>
            </a:srgbClr>
          </a:solidFill>
          <a:ln w="25400">
            <a:solidFill>
              <a:srgbClr val="64FF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5468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794760" y="2697480"/>
            <a:ext cx="731520" cy="0"/>
          </a:xfrm>
          <a:prstGeom prst="line">
            <a:avLst/>
          </a:prstGeom>
          <a:noFill/>
          <a:ln w="25400">
            <a:solidFill>
              <a:srgbClr val="FF6B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26280" y="2423160"/>
            <a:ext cx="502920" cy="548640"/>
          </a:xfrm>
          <a:prstGeom prst="rect">
            <a:avLst/>
          </a:prstGeom>
          <a:solidFill>
            <a:srgbClr val="FF6B6B">
              <a:alpha val="85000"/>
            </a:srgbClr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26280" y="24231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ŷ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965960" y="3127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(b)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303520" y="1298448"/>
            <a:ext cx="3474720" cy="1554480"/>
          </a:xfrm>
          <a:prstGeom prst="rect">
            <a:avLst/>
          </a:prstGeom>
          <a:solidFill>
            <a:srgbClr val="0D002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40680" y="13716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Mathematical Formula: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40680" y="17190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= Σ wᵢ · xᵢ + b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440680" y="212140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= f(net) = { +1 if net ≥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{ -1 if net &lt; 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303520" y="2944368"/>
            <a:ext cx="3474720" cy="1554480"/>
          </a:xfrm>
          <a:prstGeom prst="rect">
            <a:avLst/>
          </a:prstGeom>
          <a:solidFill>
            <a:srgbClr val="00150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40680" y="30175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Perceptron Learning Rule: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40680" y="33649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wᵢ ← wᵢ + η·(y - ŷ)·xᵢ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440680" y="37490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learning rate (e.g. 0.1)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true label, ŷ = predicted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FF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Linear Separability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640080"/>
            <a:ext cx="8412480" cy="566928"/>
          </a:xfrm>
          <a:prstGeom prst="rect">
            <a:avLst/>
          </a:prstGeom>
          <a:solidFill>
            <a:srgbClr val="112240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76656"/>
            <a:ext cx="8092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dataset is linearly separable if a straight line (2D), plane (3D), or hyperplane (nD) can perfectly separate the positive and negative examples.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4023360" cy="3200400"/>
          </a:xfrm>
          <a:prstGeom prst="rect">
            <a:avLst/>
          </a:prstGeom>
          <a:solidFill>
            <a:srgbClr val="112240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Linearly Separable — AND Gate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1783080"/>
            <a:ext cx="3566160" cy="2560320"/>
          </a:xfrm>
          <a:prstGeom prst="rect">
            <a:avLst/>
          </a:prstGeom>
          <a:solidFill>
            <a:srgbClr val="020A08"/>
          </a:solidFill>
          <a:ln w="12700">
            <a:solidFill>
              <a:srgbClr val="8892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94760" y="416052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 →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60120" y="3931920"/>
            <a:ext cx="274320" cy="2743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7764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(0,0)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60120" y="1874520"/>
            <a:ext cx="274320" cy="2743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17190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(0,1)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46120" y="3931920"/>
            <a:ext cx="274320" cy="2743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37764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(1,0)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46120" y="1874520"/>
            <a:ext cx="274320" cy="27432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7190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(1,1)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28800" y="1810512"/>
            <a:ext cx="2103120" cy="2560320"/>
          </a:xfrm>
          <a:prstGeom prst="line">
            <a:avLst/>
          </a:prstGeom>
          <a:noFill/>
          <a:ln w="25400">
            <a:solidFill>
              <a:srgbClr val="64FF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2286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F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298448"/>
            <a:ext cx="4023360" cy="3200400"/>
          </a:xfrm>
          <a:prstGeom prst="rect">
            <a:avLst/>
          </a:prstGeom>
          <a:solidFill>
            <a:srgbClr val="112240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3716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NOT Linearly Separable — XOR Gate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983480" y="1783080"/>
            <a:ext cx="3566160" cy="2560320"/>
          </a:xfrm>
          <a:prstGeom prst="rect">
            <a:avLst/>
          </a:prstGeom>
          <a:solidFill>
            <a:srgbClr val="080002"/>
          </a:solidFill>
          <a:ln w="12700">
            <a:solidFill>
              <a:srgbClr val="8892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183880" y="416052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 →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49240" y="3931920"/>
            <a:ext cx="274320" cy="2743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37764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(0,0)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349240" y="1874520"/>
            <a:ext cx="274320" cy="27432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17190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(0,1)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635240" y="3931920"/>
            <a:ext cx="274320" cy="27432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37764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(1,0)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635240" y="1874520"/>
            <a:ext cx="274320" cy="2743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17190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(1,1)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52160" y="2788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line can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● from ●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303520" y="1920240"/>
            <a:ext cx="2560320" cy="2286000"/>
          </a:xfrm>
          <a:prstGeom prst="line">
            <a:avLst/>
          </a:prstGeom>
          <a:noFill/>
          <a:ln w="19050">
            <a:solidFill>
              <a:srgbClr val="FF6B6B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365760" y="4645152"/>
            <a:ext cx="8412480" cy="384048"/>
          </a:xfrm>
          <a:prstGeom prst="rect">
            <a:avLst/>
          </a:prstGeom>
          <a:solidFill>
            <a:srgbClr val="10001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681728"/>
            <a:ext cx="8092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The Perceptron only works for linearly separable data! For XOR → use Multi-Layer Networks (MLPs) with hidden layers.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FF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 Linear Regression — Learning Continuous Outputs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640080"/>
            <a:ext cx="8412480" cy="566928"/>
          </a:xfrm>
          <a:prstGeom prst="rect">
            <a:avLst/>
          </a:prstGeom>
          <a:solidFill>
            <a:srgbClr val="112240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76656"/>
            <a:ext cx="8092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finds the best-fit line through data points by minimizing the sum of squared errors between predicted and actual values.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4114800" cy="3200400"/>
          </a:xfrm>
          <a:prstGeom prst="rect">
            <a:avLst/>
          </a:prstGeom>
          <a:solidFill>
            <a:srgbClr val="112240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Equations: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7556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1755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= w₀ + w₁x₁ + w₂x₂ + … + wₙxₙ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103120"/>
            <a:ext cx="3749040" cy="0"/>
          </a:xfrm>
          <a:prstGeom prst="line">
            <a:avLst/>
          </a:prstGeom>
          <a:noFill/>
          <a:ln w="6350">
            <a:solidFill>
              <a:srgbClr val="0A19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2286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FF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= wᵀx + b   (vector form)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633472"/>
            <a:ext cx="3749040" cy="0"/>
          </a:xfrm>
          <a:prstGeom prst="line">
            <a:avLst/>
          </a:prstGeom>
          <a:noFill/>
          <a:ln w="6350">
            <a:solidFill>
              <a:srgbClr val="0A19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163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(MSE):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54480" y="28163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9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J(w) = (1/n) Σ (yᵢ - ŷᵢ)²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163824"/>
            <a:ext cx="3749040" cy="0"/>
          </a:xfrm>
          <a:prstGeom prst="line">
            <a:avLst/>
          </a:prstGeom>
          <a:noFill/>
          <a:ln w="6350">
            <a:solidFill>
              <a:srgbClr val="0A19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3467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54480" y="33467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∂J/∂wⱼ = (2/n) Σ (ŷᵢ - yᵢ)xᵢⱼ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694176"/>
            <a:ext cx="3749040" cy="0"/>
          </a:xfrm>
          <a:prstGeom prst="line">
            <a:avLst/>
          </a:prstGeom>
          <a:noFill/>
          <a:ln w="6350">
            <a:solidFill>
              <a:srgbClr val="0A19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770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54480" y="38770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wⱼ ← wⱼ - η · ∂J/∂wⱼ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1298448"/>
            <a:ext cx="4114800" cy="1417320"/>
          </a:xfrm>
          <a:prstGeom prst="rect">
            <a:avLst/>
          </a:prstGeom>
          <a:solidFill>
            <a:srgbClr val="00152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Intuition — Study Hours vs Exam Score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828800"/>
          <a:ext cx="4114800" cy="822960"/>
        </p:xfrm>
        <a:graphic>
          <a:graphicData uri="http://schemas.openxmlformats.org/drawingml/2006/table">
            <a:tbl>
              <a:tblPr/>
              <a:tblGrid>
                <a:gridCol w="1097280"/>
                <a:gridCol w="749808"/>
                <a:gridCol w="749808"/>
                <a:gridCol w="749808"/>
                <a:gridCol w="749808"/>
                <a:gridCol w="749808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1117"/>
                          </a:solidFill>
                        </a:rPr>
                        <a:t>Hours (x)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1117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1117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1117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1117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1117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A5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CD6F6"/>
                          </a:solidFill>
                        </a:rPr>
                        <a:t>Score (y)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6F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6F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6F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6F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CD6F6"/>
                          </a:solidFill>
                        </a:rPr>
                        <a:t>85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D93D"/>
                          </a:solidFill>
                        </a:rPr>
                        <a:t>Predicted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D93D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D93D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D93D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D93D"/>
                          </a:solidFill>
                        </a:rPr>
                        <a:t>74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D93D"/>
                          </a:solidFill>
                        </a:rPr>
                        <a:t>83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892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4663440" y="2816352"/>
            <a:ext cx="4114800" cy="1682496"/>
          </a:xfrm>
          <a:prstGeom prst="rect">
            <a:avLst/>
          </a:prstGeom>
          <a:solidFill>
            <a:srgbClr val="11224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00600" y="2880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 Descent Intuition: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800600" y="3246120"/>
            <a:ext cx="3840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you're blindfolded on a hilly landscape 🏔️
</a:t>
            </a:r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goal: reach the valley (minimum loss).
</a:t>
            </a:r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always step downhill (negative gradient).
</a:t>
            </a:r>
            <a:pPr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size = η (learning rate). Too big → overshoot!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small → takes forever!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65760" y="4599432"/>
            <a:ext cx="8412480" cy="475488"/>
          </a:xfrm>
          <a:prstGeom prst="rect">
            <a:avLst/>
          </a:prstGeom>
          <a:solidFill>
            <a:srgbClr val="12001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" y="4645152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Normal Equation (closed form): w = (XᵀX)⁻¹Xᵀy — Direct solution but O(n³) — use Gradient Descent for large datasets!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64FFD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C084FC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54864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 UNIT I — KEY TAKEAWAYS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658368"/>
            <a:ext cx="4206240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658368"/>
            <a:ext cx="54864" cy="713232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7955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ML learns from experience E on task T measured by 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499616"/>
            <a:ext cx="4206240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499616"/>
            <a:ext cx="54864" cy="713232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163677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 types: Supervised / Unsupervised / Reinforcement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340864"/>
            <a:ext cx="4206240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340864"/>
            <a:ext cx="54864" cy="713232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247802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Biological neurons inspired artificial neural networks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182112"/>
            <a:ext cx="4206240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182112"/>
            <a:ext cx="54864" cy="713232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3192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Design a learning system: choose experience, function, representation, algorithm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4023360"/>
            <a:ext cx="4206240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64FF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4023360"/>
            <a:ext cx="54864" cy="713232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41605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Concept Learning = Boolean function inference from examples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658368"/>
            <a:ext cx="4206240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658368"/>
            <a:ext cx="54864" cy="713232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24" name="Text 22"/>
          <p:cNvSpPr/>
          <p:nvPr/>
        </p:nvSpPr>
        <p:spPr>
          <a:xfrm>
            <a:off x="4965192" y="7955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Version Space = all consistent hypotheses; S (specific) &amp; G (general) boundaries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1499616"/>
            <a:ext cx="4206240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1499616"/>
            <a:ext cx="54864" cy="713232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27" name="Text 25"/>
          <p:cNvSpPr/>
          <p:nvPr/>
        </p:nvSpPr>
        <p:spPr>
          <a:xfrm>
            <a:off x="4965192" y="163677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Perceptron: single neuron, learns via weight updates, needs linear separability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2340864"/>
            <a:ext cx="4206240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2340864"/>
            <a:ext cx="54864" cy="71323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0" name="Text 28"/>
          <p:cNvSpPr/>
          <p:nvPr/>
        </p:nvSpPr>
        <p:spPr>
          <a:xfrm>
            <a:off x="4965192" y="247802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XOR is NOT linearly separable → need deep networks / kernel methods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00600" y="3182112"/>
            <a:ext cx="4206240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3182112"/>
            <a:ext cx="54864" cy="713232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3" name="Text 31"/>
          <p:cNvSpPr/>
          <p:nvPr/>
        </p:nvSpPr>
        <p:spPr>
          <a:xfrm>
            <a:off x="4965192" y="33192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Linear Regression: fit a line, minimize MSE via gradient descent or normal equation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64FFD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FF6B6B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64FF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Learning! 🚀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JNTUH R22 | Unit I Complete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337560"/>
            <a:ext cx="1737360" cy="402336"/>
          </a:xfrm>
          <a:prstGeom prst="rect">
            <a:avLst/>
          </a:prstGeom>
          <a:solidFill>
            <a:srgbClr val="11224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33756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51760" y="3337560"/>
            <a:ext cx="1737360" cy="402336"/>
          </a:xfrm>
          <a:prstGeom prst="rect">
            <a:avLst/>
          </a:prstGeom>
          <a:solidFill>
            <a:srgbClr val="11224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333756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3337560"/>
            <a:ext cx="1737360" cy="402336"/>
          </a:xfrm>
          <a:prstGeom prst="rect">
            <a:avLst/>
          </a:prstGeom>
          <a:solidFill>
            <a:srgbClr val="11224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333756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&amp; Neuron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92240" y="3337560"/>
            <a:ext cx="1737360" cy="402336"/>
          </a:xfrm>
          <a:prstGeom prst="rect">
            <a:avLst/>
          </a:prstGeom>
          <a:solidFill>
            <a:srgbClr val="11224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33756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ML System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3867912"/>
            <a:ext cx="1737360" cy="402336"/>
          </a:xfrm>
          <a:prstGeom prst="rect">
            <a:avLst/>
          </a:prstGeom>
          <a:solidFill>
            <a:srgbClr val="11224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86791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Learning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51760" y="3867912"/>
            <a:ext cx="1737360" cy="402336"/>
          </a:xfrm>
          <a:prstGeom prst="rect">
            <a:avLst/>
          </a:prstGeom>
          <a:solidFill>
            <a:srgbClr val="11224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386791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Spaces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867912"/>
            <a:ext cx="1737360" cy="402336"/>
          </a:xfrm>
          <a:prstGeom prst="rect">
            <a:avLst/>
          </a:prstGeom>
          <a:solidFill>
            <a:srgbClr val="11224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386791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Perceptron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92240" y="3867912"/>
            <a:ext cx="1737360" cy="402336"/>
          </a:xfrm>
          <a:prstGeom prst="rect">
            <a:avLst/>
          </a:prstGeom>
          <a:solidFill>
            <a:srgbClr val="11224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86791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JNTUH Students | R22 Syllabus | All Rights Reserved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- JNTUH R22 Unit I</dc:title>
  <dc:subject>PptxGenJS Presentation</dc:subject>
  <dc:creator>ML Study Guide</dc:creator>
  <cp:lastModifiedBy>ML Study Guide</cp:lastModifiedBy>
  <cp:revision>1</cp:revision>
  <dcterms:created xsi:type="dcterms:W3CDTF">2026-04-03T06:03:28Z</dcterms:created>
  <dcterms:modified xsi:type="dcterms:W3CDTF">2026-04-03T06:03:28Z</dcterms:modified>
</cp:coreProperties>
</file>